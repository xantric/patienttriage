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triage nurse assesses one patient while three more arrive. Vague complaint, incomplete vitals, sometimes no history, decision in under two minutes. The cost is lopsided: over-triage wastes a little capacity, under-triage can kill someone. That asymmetry is the whole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forces, none of which go away with more staff or a better paper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triage tool that is quietly wrong is more dangerous than one that admits it does not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Interpreter structures intake and reads vitals against age band. Adjudicator assigns the five-level acuity, runs the time-critical clocks, and explains. Watcher keeps watching the queue and ratchets up. Then switch to the running board and stay there through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confidence band: it tells you how sure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exactly the cases the brief asks for, and where age-awareness and honesty about uncertainty save someone.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longest unsafe wait climb under surge. The no-de-escalation rule is enforced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plus the waiting-room catch are the two moments you never cut for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Optionally paste a free-text note live, show it parse, score and explain, then show the telemetry tick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Transparency is not just a trust feature, it is the regulatory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is safety first, throughput second. Every figure is illustrative and tied to a stated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go outward from safe and small. One strong outcomes study unlocks the rest of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one-liner: safe when unsure, always watching those who wait, decision stays with the clinician.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1371600" cy="137160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8136" y="1837943"/>
            <a:ext cx="960120" cy="658369"/>
          </a:xfrm>
          <a:custGeom>
            <a:avLst/>
            <a:gdLst/>
            <a:ahLst/>
            <a:cxnLst/>
            <a:rect l="l" t="t" r="r" b="b"/>
            <a:pathLst>
              <a:path w="960120" h="658369">
                <a:moveTo>
                  <a:pt x="0" y="301753"/>
                </a:moveTo>
                <a:lnTo>
                  <a:pt x="246888" y="301753"/>
                </a:lnTo>
                <a:lnTo>
                  <a:pt x="411480" y="0"/>
                </a:lnTo>
                <a:lnTo>
                  <a:pt x="603503" y="658369"/>
                </a:lnTo>
                <a:lnTo>
                  <a:pt x="768096" y="164593"/>
                </a:lnTo>
                <a:lnTo>
                  <a:pt x="905255" y="301753"/>
                </a:lnTo>
                <a:lnTo>
                  <a:pt x="960120" y="301753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>
                <a:solidFill>
                  <a:srgbClr val="14141D"/>
                </a:solidFill>
                <a:latin typeface="Segoe UI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1148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40404F"/>
                </a:solidFill>
                <a:latin typeface="Segoe UI"/>
              </a:rPr>
              <a:t>A safety-first triage assistant for the emergency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029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500C0"/>
                </a:solidFill>
                <a:latin typeface="Segoe UI"/>
              </a:rPr>
              <a:t>Team Sentinel   </a:t>
            </a:r>
            <a:r>
              <a:rPr sz="1400" b="0">
                <a:solidFill>
                  <a:srgbClr val="70707F"/>
                </a:solidFill>
                <a:latin typeface="Segoe UI"/>
              </a:rPr>
              <a:t>Track 2  ·  PatientTriage.ai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179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70707F"/>
                </a:solidFill>
                <a:latin typeface="Segoe UI"/>
              </a:rPr>
              <a:t>Accenture Innovation Challenge 2026  · 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500C0"/>
                </a:solidFill>
                <a:latin typeface="Segoe UI"/>
              </a:rP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4141D"/>
                </a:solidFill>
                <a:latin typeface="Segoe UI"/>
              </a:rPr>
              <a:t>Missing a critical patient is far worse than being cautious with a minor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F"/>
                </a:solidFill>
                <a:latin typeface="Segoe UI"/>
              </a:rPr>
              <a:t>The department has seconds, not minutes. So the goal is not accuracy on average. It is being safe when the tool is unsure.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Why triage is genuinely 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Age changes the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A heart rate of 150 is an emergency in a calm adult and normal in an upset toddler. A flat adult rule set hides that, and the danger is silent.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3562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3562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Data is half-missing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594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About half of arrivals have a history on file and half are strangers. A tool that assumes rich data fails worst on the patients it knows least.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4164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The waiting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Triage is not a one-time score. People deteriorate while waiting, and that happens most when the department is busiest.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500C0"/>
                </a:solidFill>
                <a:latin typeface="Segoe UI"/>
              </a:rPr>
              <a:t>THREE DELIBERATE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Our 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The engine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Deterministic clinical logic sets the score, so a clinician can audit any decision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3562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9594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The model explains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9594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A language model is used only at the edges: reading free text and writing a plain explanation. It never sets the acuity.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4164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4164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Uncertainty is a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Every score ships a confidence band. Low confidence routes to a nurse instead of clearing the patient.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Three agents, one firm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F"/>
                </a:solidFill>
                <a:latin typeface="Segoe UI"/>
              </a:rPr>
              <a:t>The engine sets the score. The model only reads text and explains. It never sets the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4688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2468880"/>
            <a:ext cx="3383280" cy="640080"/>
          </a:xfrm>
          <a:prstGeom prst="rect">
            <a:avLst/>
          </a:prstGeom>
          <a:solidFill>
            <a:srgbClr val="F6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259689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6919" y="3246120"/>
            <a:ext cx="2871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141D"/>
                </a:solidFill>
                <a:latin typeface="Segoe UI"/>
              </a:rPr>
              <a:t>Interpreter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6919" y="3840480"/>
            <a:ext cx="28712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0404F"/>
                </a:solidFill>
                <a:latin typeface="Segoe UI"/>
              </a:rPr>
              <a:t>Structures messy intake and reads every vital against the patient's own age band. Computes the shock index, notes what is missing, scores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5879" y="3749039"/>
            <a:ext cx="4114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100FF"/>
                </a:solidFill>
                <a:latin typeface="Segoe U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24688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4207" y="2468880"/>
            <a:ext cx="3383280" cy="640080"/>
          </a:xfrm>
          <a:prstGeom prst="rect">
            <a:avLst/>
          </a:prstGeom>
          <a:solidFill>
            <a:srgbClr val="F6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207" y="259689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Agent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239" y="3246120"/>
            <a:ext cx="2871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141D"/>
                </a:solidFill>
                <a:latin typeface="Segoe UI"/>
              </a:rPr>
              <a:t>Adjudicator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239" y="3840480"/>
            <a:ext cx="28712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0404F"/>
                </a:solidFill>
                <a:latin typeface="Segoe UI"/>
              </a:rPr>
              <a:t>Assigns the five-level acuity, runs the stroke, heart-attack and sepsis clocks, and writes why. Danger-zone vitals only push up. Uncertainty escalates.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9199" y="3749039"/>
            <a:ext cx="4114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100FF"/>
                </a:solidFill>
                <a:latin typeface="Segoe U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24688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527" y="2468880"/>
            <a:ext cx="3383280" cy="640080"/>
          </a:xfrm>
          <a:prstGeom prst="rect">
            <a:avLst/>
          </a:prstGeom>
          <a:solidFill>
            <a:srgbClr val="F6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527" y="259689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Agent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3559" y="3246120"/>
            <a:ext cx="2871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141D"/>
                </a:solidFill>
                <a:latin typeface="Segoe UI"/>
              </a:rPr>
              <a:t>Watcher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3559" y="3840480"/>
            <a:ext cx="28712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0404F"/>
                </a:solidFill>
                <a:latin typeface="Segoe UI"/>
              </a:rPr>
              <a:t>Keeps watching everyone still waiting. Re-checks the sick often, ratchets a patient up the moment they worsen or wait too long, and never lowers an acuity.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D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42492" y="857707"/>
            <a:ext cx="448056" cy="307238"/>
          </a:xfrm>
          <a:custGeom>
            <a:avLst/>
            <a:gdLst/>
            <a:ahLst/>
            <a:cxnLst/>
            <a:rect l="l" t="t" r="r" b="b"/>
            <a:pathLst>
              <a:path w="448056" h="307238">
                <a:moveTo>
                  <a:pt x="0" y="140817"/>
                </a:moveTo>
                <a:lnTo>
                  <a:pt x="115215" y="140817"/>
                </a:lnTo>
                <a:lnTo>
                  <a:pt x="192024" y="0"/>
                </a:lnTo>
                <a:lnTo>
                  <a:pt x="281635" y="307238"/>
                </a:lnTo>
                <a:lnTo>
                  <a:pt x="358445" y="76809"/>
                </a:lnTo>
                <a:lnTo>
                  <a:pt x="422453" y="140817"/>
                </a:lnTo>
                <a:lnTo>
                  <a:pt x="448056" y="140817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LIVE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A100FF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9C7F2"/>
                </a:solidFill>
                <a:latin typeface="Segoe UI"/>
              </a:rPr>
              <a:t>Shown on the running board. Slides pause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2296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141D"/>
                </a:solidFill>
                <a:latin typeface="Segoe UI"/>
              </a:rPr>
              <a:t>The board, and one 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7132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A full department, most urgent at the top. Every row has an acuity, a confidence bar, flags, and any running clock.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Open a high-acuity patient: the drivers, the vitals read against this patient's age band, the clock counting down.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A plain-language read written by the model but checked against the engine's level. Nothing here is a black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D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42492" y="857707"/>
            <a:ext cx="448056" cy="307238"/>
          </a:xfrm>
          <a:custGeom>
            <a:avLst/>
            <a:gdLst/>
            <a:ahLst/>
            <a:cxnLst/>
            <a:rect l="l" t="t" r="r" b="b"/>
            <a:pathLst>
              <a:path w="448056" h="307238">
                <a:moveTo>
                  <a:pt x="0" y="140817"/>
                </a:moveTo>
                <a:lnTo>
                  <a:pt x="115215" y="140817"/>
                </a:lnTo>
                <a:lnTo>
                  <a:pt x="192024" y="0"/>
                </a:lnTo>
                <a:lnTo>
                  <a:pt x="281635" y="307238"/>
                </a:lnTo>
                <a:lnTo>
                  <a:pt x="358445" y="76809"/>
                </a:lnTo>
                <a:lnTo>
                  <a:pt x="422453" y="140817"/>
                </a:lnTo>
                <a:lnTo>
                  <a:pt x="448056" y="140817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LIVE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A100FF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9C7F2"/>
                </a:solidFill>
                <a:latin typeface="Segoe UI"/>
              </a:rPr>
              <a:t>Shown on the running board. Slides pause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2296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141D"/>
                </a:solidFill>
                <a:latin typeface="Segoe UI"/>
              </a:rPr>
              <a:t>The cases that break flat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7132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Geriatric heart attack with no classic chest pain: an adult-calibrated tool can miss it. We catch it and start the clock.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Febrile toddler: adult thresholds would panic or under-call. Age-banding lands it correctly.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Near-zero-data walk-in: confidence drops and it routes to a nurse. It does not guess and move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D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42492" y="857707"/>
            <a:ext cx="448056" cy="307238"/>
          </a:xfrm>
          <a:custGeom>
            <a:avLst/>
            <a:gdLst/>
            <a:ahLst/>
            <a:cxnLst/>
            <a:rect l="l" t="t" r="r" b="b"/>
            <a:pathLst>
              <a:path w="448056" h="307238">
                <a:moveTo>
                  <a:pt x="0" y="140817"/>
                </a:moveTo>
                <a:lnTo>
                  <a:pt x="115215" y="140817"/>
                </a:lnTo>
                <a:lnTo>
                  <a:pt x="192024" y="0"/>
                </a:lnTo>
                <a:lnTo>
                  <a:pt x="281635" y="307238"/>
                </a:lnTo>
                <a:lnTo>
                  <a:pt x="358445" y="76809"/>
                </a:lnTo>
                <a:lnTo>
                  <a:pt x="422453" y="140817"/>
                </a:lnTo>
                <a:lnTo>
                  <a:pt x="448056" y="140817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LIVE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A100FF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9C7F2"/>
                </a:solidFill>
                <a:latin typeface="Segoe UI"/>
              </a:rPr>
              <a:t>Shown on the running board. Slides pause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2296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141D"/>
                </a:solidFill>
                <a:latin typeface="Segoe UI"/>
              </a:rPr>
              <a:t>The surge, and the catch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7132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Flip to three-times arrivals: the board fills and the Watcher reallocates its attention to the highest risk.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One patient arrived looking like a stable infection. While waiting, vitals drift, the Watcher re-checks and escalates them.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That catch, before a human would have looked again, is the single most persuasive thing here. The Watcher never lowers an acuity.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D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42492" y="857707"/>
            <a:ext cx="448056" cy="307238"/>
          </a:xfrm>
          <a:custGeom>
            <a:avLst/>
            <a:gdLst/>
            <a:ahLst/>
            <a:cxnLst/>
            <a:rect l="l" t="t" r="r" b="b"/>
            <a:pathLst>
              <a:path w="448056" h="307238">
                <a:moveTo>
                  <a:pt x="0" y="140817"/>
                </a:moveTo>
                <a:lnTo>
                  <a:pt x="115215" y="140817"/>
                </a:lnTo>
                <a:lnTo>
                  <a:pt x="192024" y="0"/>
                </a:lnTo>
                <a:lnTo>
                  <a:pt x="281635" y="307238"/>
                </a:lnTo>
                <a:lnTo>
                  <a:pt x="358445" y="76809"/>
                </a:lnTo>
                <a:lnTo>
                  <a:pt x="422453" y="140817"/>
                </a:lnTo>
                <a:lnTo>
                  <a:pt x="448056" y="140817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LIVE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A100FF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9C7F2"/>
                </a:solidFill>
                <a:latin typeface="Segoe UI"/>
              </a:rPr>
              <a:t>Shown on the running board. Slides pause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2296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141D"/>
                </a:solidFill>
                <a:latin typeface="Segoe UI"/>
              </a:rPr>
              <a:t>The override, and the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7132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The clinician always has the final say, in both directions. Change the level and a reason is required.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It writes to an append-only trail: the engine's original score, the new one, who, why, when, and the engine version.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550" b="0">
                <a:solidFill>
                  <a:srgbClr val="40404F"/>
                </a:solidFill>
                <a:latin typeface="Segoe UI"/>
              </a:rPr>
              <a:t>It cannot be edited, deleted, or saved without a reason. That is what an override must record under HIPAA.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The model, used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Two narrow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It reads a free-text note into fields the engine can score, and it writes the two-sentence explanation. Nothing else.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3562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3562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Guarded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594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Temperature zero, cached, hard timeout. Any explanation that names the wrong level is thrown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4164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Optional and cheap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Switch it off and a rule-based parser and template take over. Fractions of a cent per patient, or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500C0"/>
                </a:solidFill>
                <a:latin typeface="Segoe UI"/>
              </a:rPr>
              <a:t>HIPAA (US)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Safe by construction, compliant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Safety is the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Escalates when unsure, clinician always in charge, every decision auditable. Shadow mode proves it before it is in the critical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3562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9594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Non-device CDS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9594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Designed to fit the FDA's Non-Device Clinical Decision Support category: it recommends, and it lets a clinician review the basis.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4164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4164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Privacy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The model never sees identifiers, runs under a business agreement or on-premises, and a strict site can turn it off entirely.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500C0"/>
                </a:solidFill>
                <a:latin typeface="Segoe UI"/>
              </a:rPr>
              <a:t>ILLUSTRATIVE, ASSUMPTION-BASED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The business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Fewer missed critical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Under-triage is a known, expensive failure. Even a small reduction is worth more than the whole system. This is the pitch to a CMO.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3562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9594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Fewer walk-aways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9594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For a mid-size department, cutting the leave-without-being-seen rate by one point is hundreds of patients a year who stay and get care.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4164" y="2148840"/>
            <a:ext cx="334457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4164" y="2148840"/>
            <a:ext cx="3344570" cy="1097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2514600"/>
            <a:ext cx="283250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Cheap to run, simple to 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3383280"/>
            <a:ext cx="283250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F"/>
                </a:solidFill>
                <a:latin typeface="Segoe UI"/>
              </a:rPr>
              <a:t>Deterministic core, optional model. Per-department SaaS tiered by size. Pilot priced low for the first outcomes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4141D"/>
                </a:solidFill>
                <a:latin typeface="Segoe UI"/>
              </a:rPr>
              <a:t>Roadmap: safe and small, outward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615184" cy="3383280"/>
          </a:xfrm>
          <a:prstGeom prst="roundRect">
            <a:avLst/>
          </a:prstGeom>
          <a:solidFill>
            <a:srgbClr val="F6EFFE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2450591"/>
            <a:ext cx="2176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834639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566160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0404F"/>
                </a:solidFill>
                <a:latin typeface="Segoe UI"/>
              </a:rPr>
              <a:t>All three agents, live board, surge, override and audit, optional model. On simulated data.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856" y="35661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A100FF"/>
                </a:solidFill>
                <a:latin typeface="Segoe U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3" y="21945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450591"/>
            <a:ext cx="2176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39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Shadow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566160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0404F"/>
                </a:solidFill>
                <a:latin typeface="Segoe UI"/>
              </a:rPr>
              <a:t>One department, read-only, changes nothing. Measures agreement, mistriage, and the catches it would have made.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A100FF"/>
                </a:solidFill>
                <a:latin typeface="Segoe U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945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1424" y="2450591"/>
            <a:ext cx="2176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834639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Supervised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3566160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0404F"/>
                </a:solidFill>
                <a:latin typeface="Segoe UI"/>
              </a:rPr>
              <a:t>Recommendation on, clinician in control. Deterioration monitoring in the live queue. Tuned to the 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5661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A100FF"/>
                </a:solidFill>
                <a:latin typeface="Segoe U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1472" y="21945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450591"/>
            <a:ext cx="2176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500C0"/>
                </a:solidFill>
                <a:latin typeface="Segoe UI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2834639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141D"/>
                </a:solidFill>
                <a:latin typeface="Segoe UI"/>
              </a:rPr>
              <a:t>Multi-site +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3566160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0404F"/>
                </a:solidFill>
                <a:latin typeface="Segoe UI"/>
              </a:rPr>
              <a:t>Same configurable engine across sizes. Feedback loop improves thresholds. Autonomy rises only as accuracy earns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2296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00353" y="1102766"/>
            <a:ext cx="576072" cy="395021"/>
          </a:xfrm>
          <a:custGeom>
            <a:avLst/>
            <a:gdLst/>
            <a:ahLst/>
            <a:cxnLst/>
            <a:rect l="l" t="t" r="r" b="b"/>
            <a:pathLst>
              <a:path w="576072" h="395021">
                <a:moveTo>
                  <a:pt x="0" y="181051"/>
                </a:moveTo>
                <a:lnTo>
                  <a:pt x="148133" y="181051"/>
                </a:lnTo>
                <a:lnTo>
                  <a:pt x="246888" y="0"/>
                </a:lnTo>
                <a:lnTo>
                  <a:pt x="362103" y="395021"/>
                </a:lnTo>
                <a:lnTo>
                  <a:pt x="460858" y="98755"/>
                </a:lnTo>
                <a:lnTo>
                  <a:pt x="543154" y="181051"/>
                </a:lnTo>
                <a:lnTo>
                  <a:pt x="576072" y="181051"/>
                </a:lnTo>
              </a:path>
            </a:pathLst>
          </a:cu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What we're asking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800" b="0">
                <a:solidFill>
                  <a:srgbClr val="FFFFFF"/>
                </a:solidFill>
                <a:latin typeface="Segoe UI"/>
              </a:rPr>
              <a:t>One partner emergency department willing to run Sentinel in shadow mode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800" b="0">
                <a:solidFill>
                  <a:srgbClr val="FFFFFF"/>
                </a:solidFill>
                <a:latin typeface="Segoe UI"/>
              </a:rPr>
              <a:t>Read-only access to its records and flow data over standard interfaces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A100FF"/>
                </a:solidFill>
                <a:latin typeface="Segoe UI"/>
              </a:rPr>
              <a:t>&gt;  </a:t>
            </a:r>
            <a:r>
              <a:rPr sz="1800" b="0">
                <a:solidFill>
                  <a:srgbClr val="FFFFFF"/>
                </a:solidFill>
                <a:latin typeface="Segoe UI"/>
              </a:rPr>
              <a:t>A clinical champion to help tune thresholds and read the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9496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9C7F2"/>
                </a:solidFill>
                <a:latin typeface="Segoe UI"/>
              </a:rPr>
              <a:t>Safe when it's unsure. Always watching the people who wait. The decision always stays with the clinician.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0707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